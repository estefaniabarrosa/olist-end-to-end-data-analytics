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mbria"/>
              </a:rPr>
              <a:t>Monthly GMV (R$ thousands), Jan 2017 – Aug 2018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 (R$ thousands)</c:v>
                </c:pt>
              </c:strCache>
            </c:strRef>
          </c:tx>
          <c:spPr>
            <a:ln w="31750" cap="flat">
              <a:solidFill>
                <a:srgbClr val="F2544A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F2544A"/>
              </a:solidFill>
              <a:ln w="9525" cap="flat">
                <a:solidFill>
                  <a:srgbClr val="F2544A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Jan-17</c:v>
                </c:pt>
                <c:pt idx="1">
                  <c:v>Feb-17</c:v>
                </c:pt>
                <c:pt idx="2">
                  <c:v>Mar-17</c:v>
                </c:pt>
                <c:pt idx="3">
                  <c:v>Apr-17</c:v>
                </c:pt>
                <c:pt idx="4">
                  <c:v>May-17</c:v>
                </c:pt>
                <c:pt idx="5">
                  <c:v>Jun-17</c:v>
                </c:pt>
                <c:pt idx="6">
                  <c:v>Jul-17</c:v>
                </c:pt>
                <c:pt idx="7">
                  <c:v>Aug-17</c:v>
                </c:pt>
                <c:pt idx="8">
                  <c:v>Sep-17</c:v>
                </c:pt>
                <c:pt idx="9">
                  <c:v>Oct-17</c:v>
                </c:pt>
                <c:pt idx="10">
                  <c:v>Nov-17</c:v>
                </c:pt>
                <c:pt idx="11">
                  <c:v>Dec-17</c:v>
                </c:pt>
                <c:pt idx="12">
                  <c:v>Jan-18</c:v>
                </c:pt>
                <c:pt idx="13">
                  <c:v>Feb-18</c:v>
                </c:pt>
                <c:pt idx="14">
                  <c:v>Mar-18</c:v>
                </c:pt>
                <c:pt idx="15">
                  <c:v>Apr-18</c:v>
                </c:pt>
                <c:pt idx="16">
                  <c:v>May-18</c:v>
                </c:pt>
                <c:pt idx="17">
                  <c:v>Jun-18</c:v>
                </c:pt>
                <c:pt idx="18">
                  <c:v>Jul-18</c:v>
                </c:pt>
                <c:pt idx="19">
                  <c:v>Aug-18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111.8</c:v>
                </c:pt>
                <c:pt idx="1">
                  <c:v>234.2</c:v>
                </c:pt>
                <c:pt idx="2">
                  <c:v>359.2</c:v>
                </c:pt>
                <c:pt idx="3">
                  <c:v>340.7</c:v>
                </c:pt>
                <c:pt idx="4">
                  <c:v>489.3</c:v>
                </c:pt>
                <c:pt idx="5">
                  <c:v>421.9</c:v>
                </c:pt>
                <c:pt idx="6">
                  <c:v>481.6</c:v>
                </c:pt>
                <c:pt idx="7">
                  <c:v>554.70000000000005</c:v>
                </c:pt>
                <c:pt idx="8">
                  <c:v>607.4</c:v>
                </c:pt>
                <c:pt idx="9">
                  <c:v>648.20000000000005</c:v>
                </c:pt>
                <c:pt idx="10">
                  <c:v>987.8</c:v>
                </c:pt>
                <c:pt idx="11">
                  <c:v>726</c:v>
                </c:pt>
                <c:pt idx="12">
                  <c:v>924.6</c:v>
                </c:pt>
                <c:pt idx="13">
                  <c:v>826.4</c:v>
                </c:pt>
                <c:pt idx="14">
                  <c:v>953.4</c:v>
                </c:pt>
                <c:pt idx="15">
                  <c:v>973.5</c:v>
                </c:pt>
                <c:pt idx="16">
                  <c:v>977.5</c:v>
                </c:pt>
                <c:pt idx="17">
                  <c:v>856.1</c:v>
                </c:pt>
                <c:pt idx="18">
                  <c:v>868</c:v>
                </c:pt>
                <c:pt idx="19">
                  <c:v>838.6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5D-4CBF-87B5-6EA5FEF9B4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5B6B9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mbria"/>
              </a:rPr>
              <a:t>Average review score by delivery status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review score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2F3-4346-92BC-2649DA19CA4E}"/>
              </c:ext>
            </c:extLst>
          </c:dPt>
          <c:dPt>
            <c:idx val="1"/>
            <c:invertIfNegative val="0"/>
            <c:bubble3D val="0"/>
            <c:spPr>
              <a:solidFill>
                <a:srgbClr val="F254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2F3-4346-92BC-2649DA19CA4E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On time</c:v>
                </c:pt>
                <c:pt idx="1">
                  <c:v>Late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4.29</c:v>
                </c:pt>
                <c:pt idx="1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2F3-4346-92BC-2649DA19CA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9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E4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mbria"/>
              </a:rPr>
              <a:t>Late-delivery rate by state (%) — best vs. worst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delivery rate (%)</c:v>
                </c:pt>
              </c:strCache>
            </c:strRef>
          </c:tx>
          <c:spPr>
            <a:solidFill>
              <a:srgbClr val="1E2761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CEA-47B9-BABF-CAF1DC3AA46D}"/>
              </c:ext>
            </c:extLst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CEA-47B9-BABF-CAF1DC3AA46D}"/>
              </c:ext>
            </c:extLst>
          </c:dPt>
          <c:dPt>
            <c:idx val="2"/>
            <c:invertIfNegative val="0"/>
            <c:bubble3D val="0"/>
            <c:spPr>
              <a:solidFill>
                <a:srgbClr val="F254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CEA-47B9-BABF-CAF1DC3AA46D}"/>
              </c:ext>
            </c:extLst>
          </c:dPt>
          <c:dPt>
            <c:idx val="3"/>
            <c:invertIfNegative val="0"/>
            <c:bubble3D val="0"/>
            <c:spPr>
              <a:solidFill>
                <a:srgbClr val="F254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CEA-47B9-BABF-CAF1DC3AA46D}"/>
              </c:ext>
            </c:extLst>
          </c:dPt>
          <c:dPt>
            <c:idx val="4"/>
            <c:invertIfNegative val="0"/>
            <c:bubble3D val="0"/>
            <c:spPr>
              <a:solidFill>
                <a:srgbClr val="F254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CEA-47B9-BABF-CAF1DC3AA46D}"/>
              </c:ext>
            </c:extLst>
          </c:dPt>
          <c:dPt>
            <c:idx val="5"/>
            <c:invertIfNegative val="0"/>
            <c:bubble3D val="0"/>
            <c:spPr>
              <a:solidFill>
                <a:srgbClr val="F254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CEA-47B9-BABF-CAF1DC3AA46D}"/>
              </c:ext>
            </c:extLst>
          </c:dPt>
          <c:dPt>
            <c:idx val="6"/>
            <c:invertIfNegative val="0"/>
            <c:bubble3D val="0"/>
            <c:spPr>
              <a:solidFill>
                <a:srgbClr val="F254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CEA-47B9-BABF-CAF1DC3AA46D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SP (best)</c:v>
                </c:pt>
                <c:pt idx="1">
                  <c:v>MG (best)</c:v>
                </c:pt>
                <c:pt idx="2">
                  <c:v>SE</c:v>
                </c:pt>
                <c:pt idx="3">
                  <c:v>CE</c:v>
                </c:pt>
                <c:pt idx="4">
                  <c:v>PI</c:v>
                </c:pt>
                <c:pt idx="5">
                  <c:v>MA</c:v>
                </c:pt>
                <c:pt idx="6">
                  <c:v>AL (worst)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5.89</c:v>
                </c:pt>
                <c:pt idx="1">
                  <c:v>5.61</c:v>
                </c:pt>
                <c:pt idx="2">
                  <c:v>15.22</c:v>
                </c:pt>
                <c:pt idx="3">
                  <c:v>15.32</c:v>
                </c:pt>
                <c:pt idx="4">
                  <c:v>15.97</c:v>
                </c:pt>
                <c:pt idx="5">
                  <c:v>19.670000000000002</c:v>
                </c:pt>
                <c:pt idx="6">
                  <c:v>23.93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CEA-47B9-BABF-CAF1DC3AA4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9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lang="es-ES" sz="1300" b="0" i="0" u="none" strike="noStrike">
                <a:solidFill>
                  <a:srgbClr val="1E2761"/>
                </a:solidFill>
                <a:latin typeface="Cambria"/>
              </a:rPr>
              <a:t>Average seller GMV by acquisition channel (R$)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seller GMV (R$)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025-4411-8FD0-20CB4B741D63}"/>
              </c:ext>
            </c:extLst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025-4411-8FD0-20CB4B741D63}"/>
              </c:ext>
            </c:extLst>
          </c:dPt>
          <c:dLbls>
            <c:numFmt formatCode="&quot;R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Organic search</c:v>
                </c:pt>
                <c:pt idx="1">
                  <c:v>Paid search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1832.07</c:v>
                </c:pt>
                <c:pt idx="1">
                  <c:v>1537.4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025-4411-8FD0-20CB4B741D6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9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4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482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Good afternoon. I'm Estefania, and for my final project I analyzed </a:t>
            </a:r>
            <a:r>
              <a:rPr dirty="0" err="1"/>
              <a:t>Olist's</a:t>
            </a:r>
            <a:r>
              <a:rPr dirty="0"/>
              <a:t> Brazilian e-commerce marketplace.</a:t>
            </a:r>
          </a:p>
          <a:p>
            <a:endParaRPr dirty="0"/>
          </a:p>
          <a:p>
            <a:r>
              <a:rPr dirty="0"/>
              <a:t>I started this expecting seller acquisition — or maybe price — to explain customer satisfaction. The data pointed somewhere else. The strongest relationship I found was delivery reliability.</a:t>
            </a:r>
          </a:p>
          <a:p>
            <a:endParaRPr dirty="0"/>
          </a:p>
          <a:p>
            <a:r>
              <a:rPr dirty="0"/>
              <a:t>Let me show you how I got there.</a:t>
            </a:r>
          </a:p>
          <a:p>
            <a:endParaRPr dirty="0"/>
          </a:p>
          <a:p>
            <a:r>
              <a:rPr dirty="0"/>
              <a:t>TRANSITION -&gt; "First, some context."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Olist</a:t>
            </a:r>
            <a:r>
              <a:rPr dirty="0"/>
              <a:t> is a Brazilian marketplace that lets small businesses sell online without building their own e-commerce infrastructure. It connects around 3,000 sellers with customers across the country, and its growth depends on three things working together: attracting sellers, delivering orders on time, and keeping customers satisfied.</a:t>
            </a:r>
          </a:p>
          <a:p>
            <a:endParaRPr dirty="0"/>
          </a:p>
          <a:p>
            <a:r>
              <a:rPr dirty="0"/>
              <a:t>To analyze it I worked with two real datasets published by </a:t>
            </a:r>
            <a:r>
              <a:rPr dirty="0" err="1"/>
              <a:t>Olist</a:t>
            </a:r>
            <a:r>
              <a:rPr dirty="0"/>
              <a:t>: the e-commerce dataset, with almost 100,000 orders between 2016 and 2018, and the marketing funnel dataset, which tracks how each seller was acquired. Together they let me connect what happens BEFORE a seller joins the marketplace with what happens AFTER they start selling.</a:t>
            </a:r>
          </a:p>
          <a:p>
            <a:endParaRPr dirty="0"/>
          </a:p>
          <a:p>
            <a:r>
              <a:rPr dirty="0"/>
              <a:t>TRANSITION -&gt; "And that connection gives me the business problem."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With limited time and budget, which of those three levers actually moves the needle? Instead of assuming, I tested it.</a:t>
            </a:r>
          </a:p>
          <a:p>
            <a:endParaRPr/>
          </a:p>
          <a:p>
            <a:r>
              <a:t>I split it into three questions. First, does the acquisition channel predict how well a seller performs? Second, how reliable is delivery, and does it vary by region? Third, what is most strongly associated with customer satisfaction — delivery, product category, or price?</a:t>
            </a:r>
          </a:p>
          <a:p>
            <a:endParaRPr/>
          </a:p>
          <a:p>
            <a:r>
              <a:t>Those three questions are the structure of the rest of this presentation.</a:t>
            </a:r>
          </a:p>
          <a:p>
            <a:endParaRPr/>
          </a:p>
          <a:p>
            <a:r>
              <a:t>TRANSITION -&gt; "So how did I answer them?"</a:t>
            </a:r>
          </a:p>
          <a:p>
            <a:endParaRPr/>
          </a:p>
          <a:p>
            <a:r>
              <a:t>Do NOT read the scope note out loud — it's on screen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followed an end-to-end process, in four steps.</a:t>
            </a:r>
          </a:p>
          <a:p>
            <a:endParaRPr/>
          </a:p>
          <a:p>
            <a:r>
              <a:t>First, I cleaned and validated the data in Python, and checked that the tables actually connect the way they're supposed to.</a:t>
            </a:r>
          </a:p>
          <a:p>
            <a:endParaRPr/>
          </a:p>
          <a:p>
            <a:r>
              <a:t>Second, exploratory analysis with formal statistical testing — so I wasn't just reading patterns off a chart.</a:t>
            </a:r>
          </a:p>
          <a:p>
            <a:endParaRPr/>
          </a:p>
          <a:p>
            <a:r>
              <a:t>Third, I reproduced the core business metrics in SQL and cross-checked them against the Python results.</a:t>
            </a:r>
          </a:p>
          <a:p>
            <a:endParaRPr/>
          </a:p>
          <a:p>
            <a:r>
              <a:t>And fourth, I brought everything into an interactive Tableau dashboard.</a:t>
            </a:r>
          </a:p>
          <a:p>
            <a:endParaRPr/>
          </a:p>
          <a:p>
            <a:r>
              <a:t>The goal wasn't to produce visualizations. It was to make sure the business conclusions actually hold.</a:t>
            </a:r>
          </a:p>
          <a:p>
            <a:endParaRPr/>
          </a:p>
          <a:p>
            <a:r>
              <a:t>TRANSITION -&gt; "And before I got to any business finding, the cleaning itself told me something."</a:t>
            </a:r>
          </a:p>
          <a:p>
            <a:endParaRPr/>
          </a:p>
          <a:p>
            <a:r>
              <a:t>Don't read the four test names off the slide. If asked in Q&amp;A: Shapiro-Wilk for normality, ANOVA and Kruskal-Wallis for GMV across channels, Welch's t-test for review scores on-time vs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marketing funnel has 842 acquired sellers, but only 380 of them — about 45% — actually appear selling in the e-commerce data.</a:t>
            </a:r>
          </a:p>
          <a:p>
            <a:endParaRPr/>
          </a:p>
          <a:p>
            <a:r>
              <a:t>I didn't treat the other 462 as an error and drop them. I kept it as an explicit limitation: anything I conclude about acquisition applies only to those 380 observable sellers.</a:t>
            </a:r>
          </a:p>
          <a:p>
            <a:endParaRPr/>
          </a:p>
          <a:p>
            <a:r>
              <a:t>But it also opens a real business question. What happened to the other 462? Were they inactive, lost during onboarding, or simply not matched between the datasets?</a:t>
            </a:r>
          </a:p>
          <a:p>
            <a:endParaRPr/>
          </a:p>
          <a:p>
            <a:r>
              <a:t>TRANSITION -&gt; "With that in mind, let's look at the marketplace itself."</a:t>
            </a:r>
          </a:p>
          <a:p>
            <a:endParaRPr/>
          </a:p>
          <a:p>
            <a:r>
              <a:t>SLOW DOWN HERE. This is your credibility slide — it shows you chose documentation over a convenient deletion.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Monthly GMV grew from around 112 thousand reais in January 2017 to almost one million at its peak, and stayed at a much higher level through 2018. So the marketplace clearly works at scale.</a:t>
            </a:r>
          </a:p>
          <a:p>
            <a:endParaRPr dirty="0"/>
          </a:p>
          <a:p>
            <a:r>
              <a:rPr dirty="0"/>
              <a:t>But growth tells me how much </a:t>
            </a:r>
            <a:r>
              <a:rPr dirty="0" err="1"/>
              <a:t>Olist</a:t>
            </a:r>
            <a:r>
              <a:rPr dirty="0"/>
              <a:t> is selling. It doesn't tell me where the customer experience is breaking down.</a:t>
            </a:r>
          </a:p>
          <a:p>
            <a:endParaRPr dirty="0"/>
          </a:p>
          <a:p>
            <a:r>
              <a:rPr dirty="0"/>
              <a:t>TRANSITION -&gt; "That's what the next three slides are about."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This is the most important finding of the project.</a:t>
            </a:r>
          </a:p>
          <a:p>
            <a:endParaRPr dirty="0"/>
          </a:p>
          <a:p>
            <a:r>
              <a:rPr dirty="0"/>
              <a:t>Orders delivered on time have an average review score of 4.29 stars. Late ones drop to 2.57.</a:t>
            </a:r>
          </a:p>
          <a:p>
            <a:endParaRPr dirty="0"/>
          </a:p>
          <a:p>
            <a:r>
              <a:rPr dirty="0"/>
              <a:t>But the sharper pattern is at the extremes. 37.8% of one-star reviews involve a late delivery — against only 3% of five-star reviews. That's more than a twelve-times difference, and I confirmed it with formal statistical testing</a:t>
            </a:r>
            <a:r>
              <a:rPr lang="es-ES" dirty="0"/>
              <a:t>.</a:t>
            </a:r>
            <a:endParaRPr dirty="0"/>
          </a:p>
          <a:p>
            <a:endParaRPr dirty="0"/>
          </a:p>
          <a:p>
            <a:r>
              <a:rPr dirty="0"/>
              <a:t>Of everything I tested, delivery timing had the strongest and most actionable relationship with customer satisfaction.</a:t>
            </a:r>
          </a:p>
          <a:p>
            <a:endParaRPr dirty="0"/>
          </a:p>
          <a:p>
            <a:r>
              <a:rPr dirty="0"/>
              <a:t>TRANSITION -&gt; "So the next question is — where is that happening?"</a:t>
            </a:r>
          </a:p>
          <a:p>
            <a:endParaRPr dirty="0"/>
          </a:p>
          <a:p>
            <a:r>
              <a:rPr dirty="0"/>
              <a:t>SLOW DOWN. This is the </a:t>
            </a:r>
            <a:r>
              <a:rPr dirty="0" err="1"/>
              <a:t>centre</a:t>
            </a:r>
            <a:r>
              <a:rPr dirty="0"/>
              <a:t> of the whole talk. Don't read the test out loud — "not just a visual read" is the business version of a p-value.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 equally across Brazil. Alagoas has a late-delivery rate of almost 24%. Minas Gerais is around 5.6% — more than four times lower.</a:t>
            </a:r>
          </a:p>
          <a:p>
            <a:endParaRPr/>
          </a:p>
          <a:p>
            <a:r>
              <a:t>This matters because a national average hides where the operational problem actually is. But the worst rate isn't automatically where you start — Alagoas is a small state. What matters is where a high late rate meets real volume.</a:t>
            </a:r>
          </a:p>
          <a:p>
            <a:endParaRPr/>
          </a:p>
          <a:p>
            <a:r>
              <a:t>By that measure the answer is Rio de Janeiro: a 13.5% late rate, more than double the national 8.1%, on the second largest order volume in the country. Rio alone accounts for 21% of every late delivery in the marketplace. That's where I'd start.</a:t>
            </a:r>
          </a:p>
          <a:p>
            <a:endParaRPr/>
          </a:p>
          <a:p>
            <a:r>
              <a:t>TRANSITION -&gt; "And that brings me back to the question I opened the project with."</a:t>
            </a:r>
          </a:p>
          <a:p>
            <a:endParaRPr/>
          </a:p>
          <a:p>
            <a:r>
              <a:t>If asked why not Ceara or Maranhao: their rates are high (15.3% and 19.7%) but their volume is small — together they're about 4% of all late deliveries. Rio is 21%.</a:t>
            </a:r>
          </a:p>
          <a:p>
            <a:endParaRPr/>
          </a:p>
          <a:p>
            <a:r>
              <a:t>If someone notices Rio isn't on the chart: "Rio isn't in either extreme on rate — that's exactly the point. Ranking by rate alone hides it. Ranking by share of the problem puts it first."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Descriptively, some channels look stronger — organic search shows higher average seller GMV than paid search. But when I tested that difference formally, it didn't hold up. The gap is within what you'd expect from normal variation.</a:t>
            </a:r>
          </a:p>
          <a:p>
            <a:endParaRPr dirty="0"/>
          </a:p>
          <a:p>
            <a:r>
              <a:rPr dirty="0"/>
              <a:t>So with the data I have, acquisition channel on its own is not a reliable signal of future seller performance.</a:t>
            </a:r>
          </a:p>
          <a:p>
            <a:endParaRPr dirty="0"/>
          </a:p>
          <a:p>
            <a:r>
              <a:rPr dirty="0"/>
              <a:t>TRANSITION -&gt; "All of this is explorable in the dashboard."</a:t>
            </a:r>
          </a:p>
          <a:p>
            <a:endParaRPr dirty="0"/>
          </a:p>
          <a:p>
            <a:r>
              <a:rPr dirty="0"/>
              <a:t>"Within what you'd expect from normal variation" is the spoken version of "not significant". Same meaning, no jargon. Sample: 276 sellers across four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brought the findings into Tableau so the analysis can be explored from a business perspective. Seven sheets with cross-filtering — a KPI overview, monthly GMV, acquisition channel performance, regional delivery, delivery's link to satisfaction, seller concentration and the categories most at risk of dissatisfaction.</a:t>
            </a:r>
          </a:p>
          <a:p>
            <a:endParaRPr/>
          </a:p>
          <a:p>
            <a:r>
              <a:t>IF SHOWING LIVE: "Let me show you quickly how these connect."</a:t>
            </a:r>
          </a:p>
          <a:p>
            <a:endParaRPr/>
          </a:p>
          <a:p>
            <a:r>
              <a:t>TRANSITION -&gt; "So what should Olist actually do with this?"</a:t>
            </a:r>
          </a:p>
          <a:p>
            <a:endParaRPr/>
          </a:p>
          <a:p>
            <a:r>
              <a:t>If the live demo fails, do not troubleshoot. Say "I'll show it after the presentation" and move on. Losing 30 seconds costs nothing; losing two minutes costs you the 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I'd prioritize three actions.</a:t>
            </a:r>
          </a:p>
          <a:p>
            <a:endParaRPr/>
          </a:p>
          <a:p>
            <a:r>
              <a:t>First, and highest impact: improve delivery reliability, starting with Rio de Janeiro — one state, a fifth of all late deliveries. And monitor it at state level, so problems show up earlier instead of hiding inside a national average.</a:t>
            </a:r>
          </a:p>
          <a:p>
            <a:endParaRPr/>
          </a:p>
          <a:p>
            <a:r>
              <a:t>Second, treat logistics as a regional problem, not a national average. Different states clearly need different operational attention.</a:t>
            </a:r>
          </a:p>
          <a:p>
            <a:endParaRPr/>
          </a:p>
          <a:p>
            <a:r>
              <a:t>Third, a quick win on the acquisition side: stop using channel alone as a proxy for seller quality. Post-onboarding performance is a much better signal.</a:t>
            </a:r>
          </a:p>
          <a:p>
            <a:endParaRPr/>
          </a:p>
          <a:p>
            <a:r>
              <a:t>Two more recommendations, on product categories and the missing sellers, are documented in the repository.</a:t>
            </a:r>
          </a:p>
          <a:p>
            <a:endParaRPr/>
          </a:p>
          <a:p>
            <a:r>
              <a:t>TRANSITION -&gt; "Before I close, the limitations."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acquisition analysis only covers the 380 sellers I could observe across both datasets. The data is historical</a:t>
            </a:r>
            <a:r>
              <a:rPr lang="es-ES" dirty="0"/>
              <a:t>. </a:t>
            </a:r>
            <a:r>
              <a:rPr dirty="0"/>
              <a:t>And a strong relationship isn't causality — the data doesn't tell me whether a delay was the seller's fault, the carrier's, or </a:t>
            </a:r>
            <a:r>
              <a:rPr dirty="0" err="1"/>
              <a:t>Olist's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With more time, my next steps would be a multivariate model, to separate delivery, category and price, and a deeper look at those 462 missing sellers.</a:t>
            </a:r>
          </a:p>
          <a:p>
            <a:endParaRPr dirty="0"/>
          </a:p>
          <a:p>
            <a:r>
              <a:rPr dirty="0"/>
              <a:t>But coming back to where I started: I came into this assuming acquisition explained marketplace performance. The data says it doesn't. </a:t>
            </a:r>
            <a:r>
              <a:rPr dirty="0" err="1"/>
              <a:t>Olist</a:t>
            </a:r>
            <a:r>
              <a:rPr dirty="0"/>
              <a:t> doesn't have an acquisition problem — it has a delivery problem wearing an acquisition costume. And that's exactly the kind of finding that changes where a company spends its next dollar.</a:t>
            </a:r>
          </a:p>
          <a:p>
            <a:endParaRPr dirty="0"/>
          </a:p>
          <a:p>
            <a:r>
              <a:rPr dirty="0"/>
              <a:t>Thank you.</a:t>
            </a:r>
          </a:p>
          <a:p>
            <a:endParaRPr dirty="0"/>
          </a:p>
          <a:p>
            <a:r>
              <a:rPr dirty="0"/>
              <a:t>DELIVERY: pause before "</a:t>
            </a:r>
            <a:r>
              <a:rPr dirty="0" err="1"/>
              <a:t>Olist</a:t>
            </a:r>
            <a:r>
              <a:rPr dirty="0"/>
              <a:t> doesn't have an acquisition problem". Say the last two sentences slower than everything else. Then stop — add nothing after "thank you".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22960" y="822960"/>
            <a:ext cx="685800" cy="685800"/>
          </a:xfrm>
          <a:prstGeom prst="ellipse">
            <a:avLst/>
          </a:prstGeom>
          <a:solidFill>
            <a:srgbClr val="F2544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97383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END-TO-END DATA ANALYTICS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1168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Satisfaction?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069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investigation into seller acquisition, marketplace performance and customer satisfaction on Olist’s Brazilian e-commerce marketplace — built with Python, SQL and Tableau.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074920"/>
            <a:ext cx="2011680" cy="0"/>
          </a:xfrm>
          <a:prstGeom prst="line">
            <a:avLst/>
          </a:prstGeom>
          <a:noFill/>
          <a:ln w="38100">
            <a:solidFill>
              <a:srgbClr val="F254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 txBox="1"/>
          <p:nvPr/>
        </p:nvSpPr>
        <p:spPr>
          <a:xfrm>
            <a:off x="82296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Estefania Barrosa  •  Final Project, Data Analytics Bootcamp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7790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PROJECT STARTS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runs a marketplace connecting roughly 3,000 Brazilian sellers with customers across the country. Its growth depends on three things working well together and this project tests, with real data, whether they do.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3337560" cy="2468880"/>
          </a:xfrm>
          <a:prstGeom prst="roundRect">
            <a:avLst>
              <a:gd name="adj" fmla="val 3704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868680" y="3337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49300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8680" y="41148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Seller acquisition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45720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in sellers through the right channels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160520" y="3017520"/>
            <a:ext cx="3337560" cy="2468880"/>
          </a:xfrm>
          <a:prstGeom prst="roundRect">
            <a:avLst>
              <a:gd name="adj" fmla="val 3704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9"/>
          <p:cNvSpPr/>
          <p:nvPr/>
        </p:nvSpPr>
        <p:spPr>
          <a:xfrm>
            <a:off x="4480560" y="3337560"/>
            <a:ext cx="640080" cy="640080"/>
          </a:xfrm>
          <a:prstGeom prst="ellipse">
            <a:avLst/>
          </a:prstGeom>
          <a:solidFill>
            <a:srgbClr val="F2544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49300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480560" y="41148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reliability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480560" y="45720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orders to customers on time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772400" y="3017520"/>
            <a:ext cx="3337560" cy="2468880"/>
          </a:xfrm>
          <a:prstGeom prst="roundRect">
            <a:avLst>
              <a:gd name="adj" fmla="val 3704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3"/>
          <p:cNvSpPr/>
          <p:nvPr/>
        </p:nvSpPr>
        <p:spPr>
          <a:xfrm>
            <a:off x="8092440" y="3337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3493008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092440" y="41148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satisfaction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8092440" y="45720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orders into good reviews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7452360" y="141732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real, anonymized datasets: </a:t>
            </a:r>
            <a:r>
              <a:rPr lang="en-US" sz="13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E-Commerce dataset (2016–2018) and the Marketing Funnel dataset (seller acquisition), published by Olist on Kaggle.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7790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EXISTS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 txBox="1"/>
          <p:nvPr/>
        </p:nvSpPr>
        <p:spPr>
          <a:xfrm>
            <a:off x="914400" y="16002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Olist use data to improve seller acquisition, marketplace performance and customer satisfaction — through data-driven decisions?”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926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limited time and budget, which of these moves the needle? and where should Olist focus first? 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7947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 txBox="1"/>
          <p:nvPr/>
        </p:nvSpPr>
        <p:spPr>
          <a:xfrm>
            <a:off x="82296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5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572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 &amp; performance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074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stronger acquisition channels produce sellers with better commercial performance?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97680" y="37947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 txBox="1"/>
          <p:nvPr/>
        </p:nvSpPr>
        <p:spPr>
          <a:xfrm>
            <a:off x="457200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5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4572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reliability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5074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reliable is delivery, and does it vary meaningfully by region?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46720" y="37947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 txBox="1"/>
          <p:nvPr/>
        </p:nvSpPr>
        <p:spPr>
          <a:xfrm>
            <a:off x="832104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5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4572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satisfaction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5074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review scores: delivery, category, or price?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7790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GOT TO THE ANSWER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Approach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~100K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128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in the E-Commerce dataset (2016–2018), across 9 relational tables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3931920" y="15544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25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842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3931920" y="22128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acquired through the Marketing Funnel, tracked to seller conversion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1554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22128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Hypothesis-tested research questions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246120"/>
            <a:ext cx="11064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548640" y="356616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804672" y="38221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804672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04672" y="443484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validate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" y="4846320"/>
            <a:ext cx="2139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(pandas/numpy)  relational integrity checks across 9 tables, outlier handling, documented data-quality findings.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346704" y="356616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3602736" y="38221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7"/>
          <p:cNvSpPr txBox="1"/>
          <p:nvPr/>
        </p:nvSpPr>
        <p:spPr>
          <a:xfrm>
            <a:off x="3602736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3602736" y="443484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&amp; test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602736" y="4846320"/>
            <a:ext cx="2139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+ formal hypothesis tests (ANOVA &amp; t-test), not just descriptive charts.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144768" y="356616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6400800" y="38221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 txBox="1"/>
          <p:nvPr/>
        </p:nvSpPr>
        <p:spPr>
          <a:xfrm>
            <a:off x="640080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0" y="443484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in SQL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4846320"/>
            <a:ext cx="2139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metrics reproduced in MySQL, cross-checked against the Python results.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942832" y="356616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6"/>
          <p:cNvSpPr/>
          <p:nvPr/>
        </p:nvSpPr>
        <p:spPr>
          <a:xfrm>
            <a:off x="9198864" y="38221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 txBox="1"/>
          <p:nvPr/>
        </p:nvSpPr>
        <p:spPr>
          <a:xfrm>
            <a:off x="9198864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9198864" y="443484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9198864" y="4846320"/>
            <a:ext cx="2139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7-sheet interactive Tableau dashboard with cross-filtering, built from the validated SQL extracts.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3127248" y="4690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925312" y="4690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8723376" y="4690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Text 33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7790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CLEANING ACTUALLY FOUND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Quality Story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4206240" cy="457200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 txBox="1"/>
          <p:nvPr/>
        </p:nvSpPr>
        <p:spPr>
          <a:xfrm>
            <a:off x="822960" y="19202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25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45.13%</a:t>
            </a:r>
            <a:endParaRPr lang="en-US" sz="5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803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acquired sellers appear in the marketplace data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029200" y="16002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029200" y="2203704"/>
            <a:ext cx="128016" cy="128016"/>
          </a:xfrm>
          <a:prstGeom prst="ellipse">
            <a:avLst/>
          </a:prstGeom>
          <a:solidFill>
            <a:srgbClr val="F254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5349240" y="2075688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as a finding, not a bug  —  </a:t>
            </a:r>
            <a:r>
              <a:rPr lang="en-US" sz="13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dropping or imputing the gap, it was validated through relational checks and documented explicitly — it changes what Q1 can and can’t claim.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0" y="3621024"/>
            <a:ext cx="128016" cy="128016"/>
          </a:xfrm>
          <a:prstGeom prst="ellipse">
            <a:avLst/>
          </a:prstGeom>
          <a:solidFill>
            <a:srgbClr val="F254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 txBox="1"/>
          <p:nvPr/>
        </p:nvSpPr>
        <p:spPr>
          <a:xfrm>
            <a:off x="5349240" y="3493008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 the acquisition analysis honestly  —  </a:t>
            </a:r>
            <a:r>
              <a:rPr lang="en-US" sz="13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finding linking acquisition channel to marketplace performance applies only to the observable 380-seller subset, not all 842 — stated up front, not buried in a footnote.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029200" y="5038344"/>
            <a:ext cx="128016" cy="128016"/>
          </a:xfrm>
          <a:prstGeom prst="ellipse">
            <a:avLst/>
          </a:prstGeom>
          <a:solidFill>
            <a:srgbClr val="F254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 txBox="1"/>
          <p:nvPr/>
        </p:nvSpPr>
        <p:spPr>
          <a:xfrm>
            <a:off x="5349240" y="4910328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real follow-up question  —  </a:t>
            </a:r>
            <a:r>
              <a:rPr lang="en-US" sz="13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missing 462 sellers dormant, stuck in onboarding, or a tracking/matching issue? Worth its own investigation — see Recommendations.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7790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STAGE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Highlights: Marketplace Growth</a:t>
            </a:r>
            <a:endParaRPr lang="en-US" sz="3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463040"/>
          <a:ext cx="73152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229600" y="16002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25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8.7x</a:t>
            </a:r>
            <a:endParaRPr lang="en-US" sz="340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22585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monthly GMV from Jan 2017 to the Nov 2017 peak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229600" y="29260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R$988K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0" y="35844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 (Nov 2017) — growth then stabilizes around R$830–980K/month through Aug 2018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8"/>
          <p:cNvSpPr txBox="1"/>
          <p:nvPr/>
        </p:nvSpPr>
        <p:spPr>
          <a:xfrm>
            <a:off x="8458200" y="46634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sustained growth confirms the marketplace works at scale — but growth alone doesn’t explain review scores. That’s the next three slides.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7790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1 OF 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Timing Is the Dominant Driver</a:t>
            </a:r>
            <a:endParaRPr lang="en-US" sz="3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554480"/>
          <a:ext cx="49377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943600" y="16002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25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37.8%</a:t>
            </a:r>
            <a:endParaRPr lang="en-US" sz="3800" dirty="0"/>
          </a:p>
        </p:txBody>
      </p:sp>
      <p:sp>
        <p:nvSpPr>
          <p:cNvPr id="8" name="Text 4"/>
          <p:cNvSpPr txBox="1"/>
          <p:nvPr/>
        </p:nvSpPr>
        <p:spPr>
          <a:xfrm>
            <a:off x="5943600" y="22585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1-star reviews involve a late delivery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778240" y="16002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3.0%</a:t>
            </a:r>
            <a:endParaRPr lang="en-US" sz="3800" dirty="0"/>
          </a:p>
        </p:txBody>
      </p:sp>
      <p:sp>
        <p:nvSpPr>
          <p:cNvPr id="10" name="Text 6"/>
          <p:cNvSpPr txBox="1"/>
          <p:nvPr/>
        </p:nvSpPr>
        <p:spPr>
          <a:xfrm>
            <a:off x="8778240" y="22585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5-star reviews involve a late delivery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943600" y="3246120"/>
            <a:ext cx="5577840" cy="960120"/>
          </a:xfrm>
          <a:prstGeom prst="roundRect">
            <a:avLst>
              <a:gd name="adj" fmla="val 9524"/>
            </a:avLst>
          </a:prstGeom>
          <a:solidFill>
            <a:srgbClr val="F2544A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8"/>
          <p:cNvSpPr txBox="1"/>
          <p:nvPr/>
        </p:nvSpPr>
        <p:spPr>
          <a:xfrm>
            <a:off x="6217920" y="32461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That’s a 12x difference — the single sharpest split found anywhere in the analysis.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943600" y="44348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with formal hypothesis testing, not just a descriptive gap (Welch's t-test, t = 89.4, p &lt; 0.001) — delivery timing shows the strongest, most actionable relationship with satisfaction of any factor tested, ahead of category and price.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7790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2 OF 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Performance Varies Sharply by Region</a:t>
            </a:r>
            <a:endParaRPr lang="en-US" sz="3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50876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818120" y="160020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25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4.3x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7818120" y="225856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late-delivery gap between the worst state (Alagoas, 23.93%) and the best (Minas Gerais, 5.61%)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818120" y="3246120"/>
            <a:ext cx="3794760" cy="2651760"/>
          </a:xfrm>
          <a:prstGeom prst="roundRect">
            <a:avLst>
              <a:gd name="adj" fmla="val 3448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6"/>
          <p:cNvSpPr txBox="1"/>
          <p:nvPr/>
        </p:nvSpPr>
        <p:spPr>
          <a:xfrm>
            <a:off x="8046720" y="3429000"/>
            <a:ext cx="3337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national SLA hides this. But the worst rate isn't where to start — Alagoas is small. The priority is where a high late rate meets real volume: Rio de Janeiro, at 13.5% late on the second highest order volume, alone accounts for 21% of every late delivery in the marketplace.</a:t>
            </a:r>
            <a:endParaRPr lang="en-US" sz="1250" dirty="0"/>
          </a:p>
        </p:txBody>
      </p:sp>
      <p:sp>
        <p:nvSpPr>
          <p:cNvPr id="12" name="Text 7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7790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3 OF 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 Channel Is Not a Quality Signal</a:t>
            </a:r>
            <a:endParaRPr lang="en-US" sz="3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554480"/>
          <a:ext cx="50292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943600" y="160020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6217920" y="1783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Descriptively different. Statistically, no.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217920" y="22860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link to seller GMV across the four main channels (ANOVA p = 0.59; Kruskal-Wallis p = 0.38), despite organic search looking descriptively stronger.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943600" y="3200400"/>
            <a:ext cx="5577840" cy="2377440"/>
          </a:xfrm>
          <a:prstGeom prst="roundRect">
            <a:avLst>
              <a:gd name="adj" fmla="val 3846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7"/>
          <p:cNvSpPr txBox="1"/>
          <p:nvPr/>
        </p:nvSpPr>
        <p:spPr>
          <a:xfrm>
            <a:off x="621792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the turning point of the story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217920" y="379476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 everyone assumes matters — acquisition channel — doesn’t predict seller performance. The variable that looks like an operational afterthought — delivery timing — is the confirmed, dominant driver of satisfaction. Using channel as a seller-quality proxy isn’t supported by the data.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7790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 IN TABLEAU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85800" y="1508760"/>
            <a:ext cx="731520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5400000" algn="bl" rotWithShape="0">
              <a:srgbClr val="1E2761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7" name="Image 1" descr="/tmp/existing_pptx_extract/ppt/media/image9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8680" y="1691640"/>
            <a:ext cx="6949440" cy="43434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0" y="169164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7-sheet Tableau workbook covering KPI overview, monthly GMV trend, acquisition channel performance, regional delivery, delivery’s link to satisfaction, seller concentration and at-risk categories — with cross-filtering between views.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8229600" y="3749040"/>
            <a:ext cx="3383280" cy="384048"/>
          </a:xfrm>
          <a:prstGeom prst="roundRect">
            <a:avLst>
              <a:gd name="adj" fmla="val 19048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6"/>
          <p:cNvSpPr txBox="1"/>
          <p:nvPr/>
        </p:nvSpPr>
        <p:spPr>
          <a:xfrm>
            <a:off x="8412480" y="3749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overview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0" y="4187952"/>
            <a:ext cx="3383280" cy="384048"/>
          </a:xfrm>
          <a:prstGeom prst="roundRect">
            <a:avLst>
              <a:gd name="adj" fmla="val 19048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8"/>
          <p:cNvSpPr txBox="1"/>
          <p:nvPr/>
        </p:nvSpPr>
        <p:spPr>
          <a:xfrm>
            <a:off x="8412480" y="4187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GMV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29600" y="4626864"/>
            <a:ext cx="3383280" cy="384048"/>
          </a:xfrm>
          <a:prstGeom prst="roundRect">
            <a:avLst>
              <a:gd name="adj" fmla="val 19048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0"/>
          <p:cNvSpPr txBox="1"/>
          <p:nvPr/>
        </p:nvSpPr>
        <p:spPr>
          <a:xfrm>
            <a:off x="8412480" y="46268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perf.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29600" y="5065776"/>
            <a:ext cx="3383280" cy="384048"/>
          </a:xfrm>
          <a:prstGeom prst="roundRect">
            <a:avLst>
              <a:gd name="adj" fmla="val 19048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2"/>
          <p:cNvSpPr txBox="1"/>
          <p:nvPr/>
        </p:nvSpPr>
        <p:spPr>
          <a:xfrm>
            <a:off x="8412480" y="50657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delivery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229600" y="5504688"/>
            <a:ext cx="3383280" cy="384048"/>
          </a:xfrm>
          <a:prstGeom prst="roundRect">
            <a:avLst>
              <a:gd name="adj" fmla="val 19048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4"/>
          <p:cNvSpPr txBox="1"/>
          <p:nvPr/>
        </p:nvSpPr>
        <p:spPr>
          <a:xfrm>
            <a:off x="8412480" y="55046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→ satisfaction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229600" y="5943600"/>
            <a:ext cx="3383280" cy="384048"/>
          </a:xfrm>
          <a:prstGeom prst="roundRect">
            <a:avLst>
              <a:gd name="adj" fmla="val 19048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6"/>
          <p:cNvSpPr txBox="1"/>
          <p:nvPr/>
        </p:nvSpPr>
        <p:spPr>
          <a:xfrm>
            <a:off x="8412480" y="59436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concentration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229600" y="6382512"/>
            <a:ext cx="3383280" cy="384048"/>
          </a:xfrm>
          <a:prstGeom prst="roundRect">
            <a:avLst>
              <a:gd name="adj" fmla="val 19048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8"/>
          <p:cNvSpPr txBox="1"/>
          <p:nvPr/>
        </p:nvSpPr>
        <p:spPr>
          <a:xfrm>
            <a:off x="8412480" y="63825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categories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7790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OLIST SHOULD DO NEXT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822960" y="1783080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 txBox="1"/>
          <p:nvPr/>
        </p:nvSpPr>
        <p:spPr>
          <a:xfrm>
            <a:off x="82296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286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delivery reliability in the worst states first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2004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2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deliveries: 2.57★ vs. 4.29★ on time.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84048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state-level late-delivery alerts; renegotiate carrier terms starting with the worst-performing states.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5303520"/>
            <a:ext cx="3063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822960" y="5394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Operations / Logistics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97680" y="150876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4572000" y="1783080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 txBox="1"/>
          <p:nvPr/>
        </p:nvSpPr>
        <p:spPr>
          <a:xfrm>
            <a:off x="457200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2286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delivery as a regional problem, not a national average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32004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2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 differs significantly by state.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0" y="384048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carrier strategy by region; start where high volume meets high late-delivery rate.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0" y="5303520"/>
            <a:ext cx="3063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 txBox="1"/>
          <p:nvPr/>
        </p:nvSpPr>
        <p:spPr>
          <a:xfrm>
            <a:off x="4572000" y="5394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Regional Operations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046720" y="150876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0"/>
          <p:cNvSpPr/>
          <p:nvPr/>
        </p:nvSpPr>
        <p:spPr>
          <a:xfrm>
            <a:off x="8321040" y="1783080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F254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 txBox="1"/>
          <p:nvPr/>
        </p:nvSpPr>
        <p:spPr>
          <a:xfrm>
            <a:off x="832104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8321040" y="2286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using acquisition channel as a seller-quality signal</a:t>
            </a:r>
            <a:endParaRPr lang="en-US" sz="1450" dirty="0"/>
          </a:p>
        </p:txBody>
      </p:sp>
      <p:sp>
        <p:nvSpPr>
          <p:cNvPr id="26" name="Text 23"/>
          <p:cNvSpPr txBox="1"/>
          <p:nvPr/>
        </p:nvSpPr>
        <p:spPr>
          <a:xfrm>
            <a:off x="8321040" y="32004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2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shows no significant link to seller GMV.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321040" y="384048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channel as a standalone quality proxy; pair with real post-onboarding performance data.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321040" y="5303520"/>
            <a:ext cx="3063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 txBox="1"/>
          <p:nvPr/>
        </p:nvSpPr>
        <p:spPr>
          <a:xfrm>
            <a:off x="8321040" y="5394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Marketing / Acquisition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recommendations — auditing high-dissatisfaction categories and investigating the 462 unmatched acquired sellers — are detailed in docs/recommendations.md.</a:t>
            </a:r>
            <a:endParaRPr lang="en-US" sz="1050" dirty="0"/>
          </a:p>
        </p:txBody>
      </p:sp>
      <p:sp>
        <p:nvSpPr>
          <p:cNvPr id="32" name="Text 28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114800" cy="4114800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F2544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623621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FORWARD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7040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What’s Next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039112"/>
            <a:ext cx="91440" cy="91440"/>
          </a:xfrm>
          <a:prstGeom prst="ellipse">
            <a:avLst/>
          </a:prstGeom>
          <a:solidFill>
            <a:srgbClr val="F254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822960" y="19202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acquisition findings apply only to the 380 observable sellers (45.1%), not all 842 acquired.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788920"/>
            <a:ext cx="91440" cy="91440"/>
          </a:xfrm>
          <a:prstGeom prst="ellipse">
            <a:avLst/>
          </a:prstGeom>
          <a:solidFill>
            <a:srgbClr val="F254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 txBox="1"/>
          <p:nvPr/>
        </p:nvSpPr>
        <p:spPr>
          <a:xfrm>
            <a:off x="822960" y="267004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Recency: data spans 2016–2018 — logistics and market conditions have likely changed since.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538728"/>
            <a:ext cx="91440" cy="91440"/>
          </a:xfrm>
          <a:prstGeom prst="ellipse">
            <a:avLst/>
          </a:prstGeom>
          <a:solidFill>
            <a:srgbClr val="F254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822960" y="341985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Granularity: order-level data can’t isolate whether a delay was the seller’s, carrier’s, or Olist’s.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288536"/>
            <a:ext cx="91440" cy="91440"/>
          </a:xfrm>
          <a:prstGeom prst="ellipse">
            <a:avLst/>
          </a:prstGeom>
          <a:solidFill>
            <a:srgbClr val="F254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 txBox="1"/>
          <p:nvPr/>
        </p:nvSpPr>
        <p:spPr>
          <a:xfrm>
            <a:off x="822960" y="416966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significance correction was applied across the three research questions tested.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09360" y="2039112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 txBox="1"/>
          <p:nvPr/>
        </p:nvSpPr>
        <p:spPr>
          <a:xfrm>
            <a:off x="6583680" y="19202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regression isolating delivery, category and price effects on review score together.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309360" y="278892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 txBox="1"/>
          <p:nvPr/>
        </p:nvSpPr>
        <p:spPr>
          <a:xfrm>
            <a:off x="6583680" y="267004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investigation into the 462 unmatched acquired sellers — the biggest open question.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309360" y="3538728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 txBox="1"/>
          <p:nvPr/>
        </p:nvSpPr>
        <p:spPr>
          <a:xfrm>
            <a:off x="6583680" y="341985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Seller-level cohort analysis using SQL window functions — do late sellers improve over time?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309360" y="428853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 txBox="1"/>
          <p:nvPr/>
        </p:nvSpPr>
        <p:spPr>
          <a:xfrm>
            <a:off x="6583680" y="416966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dashboard live and connect it directly to the database instead of static exports.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50749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 txBox="1"/>
          <p:nvPr/>
        </p:nvSpPr>
        <p:spPr>
          <a:xfrm>
            <a:off x="914400" y="52120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“Olist doesn’t have an acquisition problem. It has a delivery problem wearing an acquisition costume — and that’s exactly the kind of finding that changes where a company spends its next dollar.”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Estefania Barrosa  |  github.com/estefaniabarrosa/olist-end-to-end-data-analytics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2828</Words>
  <Application>Microsoft Office PowerPoint</Application>
  <PresentationFormat>Widescreen</PresentationFormat>
  <Paragraphs>260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Marketplace: What Actually Drives Customer Satisfaction?</dc:title>
  <dc:subject>PptxGenJS Presentation</dc:subject>
  <dc:creator>Estefania Barrosa</dc:creator>
  <cp:lastModifiedBy>Estefanía Barrosa</cp:lastModifiedBy>
  <cp:revision>2</cp:revision>
  <dcterms:created xsi:type="dcterms:W3CDTF">2026-08-28T10:59:43Z</dcterms:created>
  <dcterms:modified xsi:type="dcterms:W3CDTF">2026-08-28T21:03:01Z</dcterms:modified>
</cp:coreProperties>
</file>